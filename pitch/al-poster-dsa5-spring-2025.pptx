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6" r:id="rId5"/>
  </p:sldIdLst>
  <p:sldSz cx="32918400" cy="21945600"/>
  <p:notesSz cx="6858000" cy="9144000"/>
  <p:defaultTextStyle>
    <a:defPPr>
      <a:defRPr lang="en-US"/>
    </a:defPPr>
    <a:lvl1pPr marL="0" algn="l" defTabSz="2633472" rtl="0" eaLnBrk="1" latinLnBrk="0" hangingPunct="1">
      <a:defRPr sz="5184" kern="1200">
        <a:solidFill>
          <a:schemeClr val="tx1"/>
        </a:solidFill>
        <a:latin typeface="+mn-lt"/>
        <a:ea typeface="+mn-ea"/>
        <a:cs typeface="+mn-cs"/>
      </a:defRPr>
    </a:lvl1pPr>
    <a:lvl2pPr marL="1316736" algn="l" defTabSz="2633472" rtl="0" eaLnBrk="1" latinLnBrk="0" hangingPunct="1">
      <a:defRPr sz="5184" kern="1200">
        <a:solidFill>
          <a:schemeClr val="tx1"/>
        </a:solidFill>
        <a:latin typeface="+mn-lt"/>
        <a:ea typeface="+mn-ea"/>
        <a:cs typeface="+mn-cs"/>
      </a:defRPr>
    </a:lvl2pPr>
    <a:lvl3pPr marL="2633472" algn="l" defTabSz="2633472" rtl="0" eaLnBrk="1" latinLnBrk="0" hangingPunct="1">
      <a:defRPr sz="5184" kern="1200">
        <a:solidFill>
          <a:schemeClr val="tx1"/>
        </a:solidFill>
        <a:latin typeface="+mn-lt"/>
        <a:ea typeface="+mn-ea"/>
        <a:cs typeface="+mn-cs"/>
      </a:defRPr>
    </a:lvl3pPr>
    <a:lvl4pPr marL="3950208" algn="l" defTabSz="2633472" rtl="0" eaLnBrk="1" latinLnBrk="0" hangingPunct="1">
      <a:defRPr sz="5184" kern="1200">
        <a:solidFill>
          <a:schemeClr val="tx1"/>
        </a:solidFill>
        <a:latin typeface="+mn-lt"/>
        <a:ea typeface="+mn-ea"/>
        <a:cs typeface="+mn-cs"/>
      </a:defRPr>
    </a:lvl4pPr>
    <a:lvl5pPr marL="5266944" algn="l" defTabSz="2633472" rtl="0" eaLnBrk="1" latinLnBrk="0" hangingPunct="1">
      <a:defRPr sz="5184" kern="1200">
        <a:solidFill>
          <a:schemeClr val="tx1"/>
        </a:solidFill>
        <a:latin typeface="+mn-lt"/>
        <a:ea typeface="+mn-ea"/>
        <a:cs typeface="+mn-cs"/>
      </a:defRPr>
    </a:lvl5pPr>
    <a:lvl6pPr marL="6583680" algn="l" defTabSz="2633472" rtl="0" eaLnBrk="1" latinLnBrk="0" hangingPunct="1">
      <a:defRPr sz="5184" kern="1200">
        <a:solidFill>
          <a:schemeClr val="tx1"/>
        </a:solidFill>
        <a:latin typeface="+mn-lt"/>
        <a:ea typeface="+mn-ea"/>
        <a:cs typeface="+mn-cs"/>
      </a:defRPr>
    </a:lvl6pPr>
    <a:lvl7pPr marL="7900416" algn="l" defTabSz="2633472" rtl="0" eaLnBrk="1" latinLnBrk="0" hangingPunct="1">
      <a:defRPr sz="5184" kern="1200">
        <a:solidFill>
          <a:schemeClr val="tx1"/>
        </a:solidFill>
        <a:latin typeface="+mn-lt"/>
        <a:ea typeface="+mn-ea"/>
        <a:cs typeface="+mn-cs"/>
      </a:defRPr>
    </a:lvl7pPr>
    <a:lvl8pPr marL="9217152" algn="l" defTabSz="2633472" rtl="0" eaLnBrk="1" latinLnBrk="0" hangingPunct="1">
      <a:defRPr sz="5184" kern="1200">
        <a:solidFill>
          <a:schemeClr val="tx1"/>
        </a:solidFill>
        <a:latin typeface="+mn-lt"/>
        <a:ea typeface="+mn-ea"/>
        <a:cs typeface="+mn-cs"/>
      </a:defRPr>
    </a:lvl8pPr>
    <a:lvl9pPr marL="10533888" algn="l" defTabSz="2633472" rtl="0" eaLnBrk="1" latinLnBrk="0" hangingPunct="1">
      <a:defRPr sz="518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20" userDrawn="1">
          <p15:clr>
            <a:srgbClr val="A4A3A4"/>
          </p15:clr>
        </p15:guide>
        <p15:guide id="3" pos="720" userDrawn="1">
          <p15:clr>
            <a:srgbClr val="A4A3A4"/>
          </p15:clr>
        </p15:guide>
        <p15:guide id="4" pos="20016" userDrawn="1">
          <p15:clr>
            <a:srgbClr val="A4A3A4"/>
          </p15:clr>
        </p15:guide>
        <p15:guide id="5" orient="horz" pos="13104" userDrawn="1">
          <p15:clr>
            <a:srgbClr val="A4A3A4"/>
          </p15:clr>
        </p15:guide>
        <p15:guide id="6" pos="5112" userDrawn="1">
          <p15:clr>
            <a:srgbClr val="A4A3A4"/>
          </p15:clr>
        </p15:guide>
        <p15:guide id="7" pos="5688" userDrawn="1">
          <p15:clr>
            <a:srgbClr val="A4A3A4"/>
          </p15:clr>
        </p15:guide>
        <p15:guide id="8" pos="10080" userDrawn="1">
          <p15:clr>
            <a:srgbClr val="A4A3A4"/>
          </p15:clr>
        </p15:guide>
        <p15:guide id="9" pos="10656" userDrawn="1">
          <p15:clr>
            <a:srgbClr val="A4A3A4"/>
          </p15:clr>
        </p15:guide>
        <p15:guide id="10" pos="15048" userDrawn="1">
          <p15:clr>
            <a:srgbClr val="A4A3A4"/>
          </p15:clr>
        </p15:guide>
        <p15:guide id="11" pos="156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80F7A2-2453-439C-D3CB-D245B22D01A8}" v="2727" dt="2025-07-24T14:55:56.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93" autoAdjust="0"/>
    <p:restoredTop sz="84409" autoAdjust="0"/>
  </p:normalViewPr>
  <p:slideViewPr>
    <p:cSldViewPr snapToGrid="0" snapToObjects="1" showGuides="1">
      <p:cViewPr>
        <p:scale>
          <a:sx n="50" d="100"/>
          <a:sy n="50" d="100"/>
        </p:scale>
        <p:origin x="24" y="-4084"/>
      </p:cViewPr>
      <p:guideLst>
        <p:guide orient="horz" pos="720"/>
        <p:guide pos="720"/>
        <p:guide pos="20016"/>
        <p:guide orient="horz" pos="13104"/>
        <p:guide pos="5112"/>
        <p:guide pos="5688"/>
        <p:guide pos="10080"/>
        <p:guide pos="10656"/>
        <p:guide pos="15048"/>
        <p:guide pos="156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0FCC30-C5E0-4E3B-9143-ECC7B11E5274}" type="datetimeFigureOut">
              <a:rPr lang="en-GB" smtClean="0"/>
              <a:t>24/07/2025</a:t>
            </a:fld>
            <a:endParaRPr lang="en-GB"/>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07A75E-7F3E-4E68-A07E-C277212E082A}" type="slidenum">
              <a:rPr lang="en-GB" smtClean="0"/>
              <a:t>‹#›</a:t>
            </a:fld>
            <a:endParaRPr lang="en-GB"/>
          </a:p>
        </p:txBody>
      </p:sp>
    </p:spTree>
    <p:extLst>
      <p:ext uri="{BB962C8B-B14F-4D97-AF65-F5344CB8AC3E}">
        <p14:creationId xmlns:p14="http://schemas.microsoft.com/office/powerpoint/2010/main" val="4250933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Contents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template must be used for your Action Learning project poster to ensure the same look and feel for all posters.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best posters will be printed and mounted; displayed in our classrooms.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category titles for the sections of text are fixed. The amount of text for each section could vary based on your project.</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Do not change the fonts, sizes or the colors - pay attention to the title banner at the top.</a:t>
            </a:r>
          </a:p>
          <a:p>
            <a:r>
              <a:rPr lang="en-US" sz="1200" kern="1200" dirty="0">
                <a:solidFill>
                  <a:schemeClr val="tx1"/>
                </a:solidFill>
                <a:effectLst/>
                <a:latin typeface="+mn-lt"/>
                <a:ea typeface="+mn-ea"/>
                <a:cs typeface="+mn-cs"/>
              </a:rPr>
              <a:t>	Text body – Open Sans 30 for description, Other are Open Sans 18 (Quick facts Calibri 22)</a:t>
            </a:r>
          </a:p>
          <a:p>
            <a:r>
              <a:rPr lang="en-US" sz="1200" kern="1200" dirty="0">
                <a:solidFill>
                  <a:schemeClr val="tx1"/>
                </a:solidFill>
                <a:effectLst/>
                <a:latin typeface="+mn-lt"/>
                <a:ea typeface="+mn-ea"/>
                <a:cs typeface="+mn-cs"/>
              </a:rPr>
              <a:t>	Tiles - Encode Sans Normal Black 115 main title, subtitles 40, Quick Facts 28</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Methodology and Tools would include your project management method and applicable programming languages that were used.</a:t>
            </a:r>
          </a:p>
          <a:p>
            <a:r>
              <a:rPr lang="en-US" sz="1200" kern="1200" dirty="0">
                <a:solidFill>
                  <a:schemeClr val="tx1"/>
                </a:solidFill>
                <a:effectLst/>
                <a:latin typeface="+mn-lt"/>
                <a:ea typeface="+mn-ea"/>
                <a:cs typeface="+mn-cs"/>
              </a:rPr>
              <a:t>The “Box Header” title can be changed. The facts should be taken from your research, not about your project</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charts and image boxes are provided only as placeholders. You do not have to use the sample charts provided and likely prefer others.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Three charts and two images are not required, but you should use graphics to illustrate key points and to make your poster attractive.</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Ensuring quality printed posters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will print the final version at A1 size, so you must use high quality images as they will be enlarged.</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Zoom the poster by 500% or more, to see any quality issues on your screen.</a:t>
            </a:r>
          </a:p>
          <a:p>
            <a:r>
              <a:rPr lang="en-GB" sz="1200" kern="1200" dirty="0">
                <a:solidFill>
                  <a:schemeClr val="tx1"/>
                </a:solidFill>
                <a:effectLst/>
                <a:latin typeface="+mn-lt"/>
                <a:ea typeface="+mn-ea"/>
                <a:cs typeface="+mn-cs"/>
              </a:rPr>
              <a:t>Print a A3 or A4 version to see the placement of all elements</a:t>
            </a:r>
          </a:p>
          <a:p>
            <a:r>
              <a:rPr lang="en-US" sz="1200" kern="1200" dirty="0">
                <a:solidFill>
                  <a:schemeClr val="tx1"/>
                </a:solidFill>
                <a:effectLst/>
                <a:latin typeface="+mn-lt"/>
                <a:ea typeface="+mn-ea"/>
                <a:cs typeface="+mn-cs"/>
              </a:rPr>
              <a:t>For trimming, the border around the edges must stay exactly as it is - do not put any information closer to the border</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Submit PDF and PPT versions and not any printed copies - when creating the PDF, make it high resolution.</a:t>
            </a:r>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D07A75E-7F3E-4E68-A07E-C277212E082A}" type="slidenum">
              <a:rPr lang="en-GB" smtClean="0"/>
              <a:t>1</a:t>
            </a:fld>
            <a:endParaRPr lang="en-GB"/>
          </a:p>
        </p:txBody>
      </p:sp>
    </p:spTree>
    <p:extLst>
      <p:ext uri="{BB962C8B-B14F-4D97-AF65-F5344CB8AC3E}">
        <p14:creationId xmlns:p14="http://schemas.microsoft.com/office/powerpoint/2010/main" val="119134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280EEA-D0D3-8B4B-92D4-DEB51ACFF84E}"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280EEA-D0D3-8B4B-92D4-DEB51ACFF84E}"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280EEA-D0D3-8B4B-92D4-DEB51ACFF84E}"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280EEA-D0D3-8B4B-92D4-DEB51ACFF84E}"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280EEA-D0D3-8B4B-92D4-DEB51ACFF84E}" type="datetimeFigureOut">
              <a:rPr lang="en-US" smtClean="0"/>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280EEA-D0D3-8B4B-92D4-DEB51ACFF84E}" type="datetimeFigureOut">
              <a:rPr lang="en-US" smtClean="0"/>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280EEA-D0D3-8B4B-92D4-DEB51ACFF84E}" type="datetimeFigureOut">
              <a:rPr lang="en-US" smtClean="0"/>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64280EEA-D0D3-8B4B-92D4-DEB51ACFF84E}"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64280EEA-D0D3-8B4B-92D4-DEB51ACFF84E}"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280EEA-D0D3-8B4B-92D4-DEB51ACFF84E}"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280EEA-D0D3-8B4B-92D4-DEB51ACFF84E}"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BB81AB-2AEA-4F43-9A67-F95394B0E48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fld id="{64280EEA-D0D3-8B4B-92D4-DEB51ACFF84E}" type="datetimeFigureOut">
              <a:rPr lang="en-US" smtClean="0"/>
              <a:t>7/24/2025</a:t>
            </a:fld>
            <a:endParaRPr lang="en-US"/>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D9BB81AB-2AEA-4F43-9A67-F95394B0E480}" type="slidenum">
              <a:rPr lang="en-US" smtClean="0"/>
              <a:t>‹#›</a:t>
            </a:fld>
            <a:endParaRPr lang="en-US"/>
          </a:p>
        </p:txBody>
      </p:sp>
    </p:spTree>
    <p:extLst>
      <p:ext uri="{BB962C8B-B14F-4D97-AF65-F5344CB8AC3E}">
        <p14:creationId xmlns:p14="http://schemas.microsoft.com/office/powerpoint/2010/main" val="682498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descr="Purple Header Bar"/>
          <p:cNvSpPr/>
          <p:nvPr/>
        </p:nvSpPr>
        <p:spPr>
          <a:xfrm>
            <a:off x="0" y="0"/>
            <a:ext cx="32918400" cy="48006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74805" y="612980"/>
            <a:ext cx="25499834" cy="2374790"/>
          </a:xfrm>
        </p:spPr>
        <p:txBody>
          <a:bodyPr anchor="b">
            <a:normAutofit/>
          </a:bodyPr>
          <a:lstStyle/>
          <a:p>
            <a:pPr algn="l"/>
            <a:r>
              <a:rPr lang="en-US" sz="7200" dirty="0">
                <a:solidFill>
                  <a:srgbClr val="FFFFFF"/>
                </a:solidFill>
                <a:latin typeface="Calibri"/>
                <a:ea typeface="+mj-lt"/>
                <a:cs typeface="+mj-lt"/>
              </a:rPr>
              <a:t>Custom Lightweight Convolutional Neural Network for Edge-Based Inference</a:t>
            </a:r>
            <a:endParaRPr lang="en-US" dirty="0">
              <a:latin typeface="Calibri"/>
            </a:endParaRPr>
          </a:p>
        </p:txBody>
      </p:sp>
      <p:sp>
        <p:nvSpPr>
          <p:cNvPr id="14" name="Rectangle 13" descr="Purple box for quick facts"/>
          <p:cNvSpPr/>
          <p:nvPr/>
        </p:nvSpPr>
        <p:spPr>
          <a:xfrm>
            <a:off x="1136595" y="14840005"/>
            <a:ext cx="7094948" cy="621703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515365" y="15207928"/>
            <a:ext cx="6273799" cy="6001643"/>
          </a:xfrm>
          <a:prstGeom prst="rect">
            <a:avLst/>
          </a:prstGeom>
          <a:noFill/>
        </p:spPr>
        <p:txBody>
          <a:bodyPr wrap="square" lIns="91440" tIns="45720" rIns="91440" bIns="45720" rtlCol="0" anchor="t">
            <a:spAutoFit/>
          </a:bodyPr>
          <a:lstStyle/>
          <a:p>
            <a:pPr>
              <a:spcAft>
                <a:spcPts val="1200"/>
              </a:spcAft>
            </a:pPr>
            <a:r>
              <a:rPr lang="en-US" sz="2800" b="1" dirty="0">
                <a:solidFill>
                  <a:schemeClr val="bg1"/>
                </a:solidFill>
                <a:latin typeface="Encode Sans Normal Black" charset="0"/>
                <a:ea typeface="Encode Sans Normal Black" charset="0"/>
                <a:cs typeface="Encode Sans Normal Black" charset="0"/>
              </a:rPr>
              <a:t>QUICK FACTS</a:t>
            </a:r>
          </a:p>
          <a:p>
            <a:pPr marL="342900" indent="-342900">
              <a:spcAft>
                <a:spcPts val="1200"/>
              </a:spcAft>
              <a:buFont typeface="Wingdings" panose="05000000000000000000" pitchFamily="2" charset="2"/>
              <a:buChar char="Ø"/>
            </a:pPr>
            <a:r>
              <a:rPr lang="en-US" sz="2200" dirty="0">
                <a:solidFill>
                  <a:srgbClr val="FFFFFF"/>
                </a:solidFill>
              </a:rPr>
              <a:t>Most frameworks offered QAT for lightweight model</a:t>
            </a:r>
            <a:endParaRPr lang="en-US" dirty="0"/>
          </a:p>
          <a:p>
            <a:pPr marL="342900" indent="-342900">
              <a:spcAft>
                <a:spcPts val="1200"/>
              </a:spcAft>
              <a:buFont typeface="Wingdings" panose="05000000000000000000" pitchFamily="2" charset="2"/>
              <a:buChar char="Ø"/>
            </a:pPr>
            <a:r>
              <a:rPr lang="en-US" sz="2200" err="1">
                <a:solidFill>
                  <a:srgbClr val="FFFFFF"/>
                </a:solidFill>
                <a:ea typeface="+mn-lt"/>
                <a:cs typeface="+mn-lt"/>
              </a:rPr>
              <a:t>ShuffleNet</a:t>
            </a:r>
            <a:r>
              <a:rPr lang="en-US" sz="2200" dirty="0">
                <a:solidFill>
                  <a:srgbClr val="FFFFFF"/>
                </a:solidFill>
                <a:ea typeface="+mn-lt"/>
                <a:cs typeface="+mn-lt"/>
              </a:rPr>
              <a:t> is a better choice than MobileNet when very light-weight models are needed</a:t>
            </a:r>
            <a:endParaRPr lang="en-US" sz="2200" dirty="0">
              <a:solidFill>
                <a:srgbClr val="FFFFFF"/>
              </a:solidFill>
            </a:endParaRPr>
          </a:p>
          <a:p>
            <a:pPr marL="342900" indent="-342900">
              <a:spcAft>
                <a:spcPts val="1200"/>
              </a:spcAft>
              <a:buFont typeface="Wingdings" panose="05000000000000000000" pitchFamily="2" charset="2"/>
              <a:buChar char="Ø"/>
            </a:pPr>
            <a:r>
              <a:rPr lang="en-US" sz="2200" dirty="0">
                <a:solidFill>
                  <a:srgbClr val="FFFFFF"/>
                </a:solidFill>
                <a:ea typeface="+mn-lt"/>
                <a:cs typeface="+mn-lt"/>
              </a:rPr>
              <a:t>Arduino Nano does not have a pin for the camera</a:t>
            </a:r>
          </a:p>
          <a:p>
            <a:pPr marL="342900" indent="-342900">
              <a:spcAft>
                <a:spcPts val="1200"/>
              </a:spcAft>
              <a:buFont typeface="Wingdings" panose="05000000000000000000" pitchFamily="2" charset="2"/>
              <a:buChar char="Ø"/>
            </a:pPr>
            <a:r>
              <a:rPr lang="en-US" sz="2200" dirty="0">
                <a:solidFill>
                  <a:srgbClr val="FFFFFF"/>
                </a:solidFill>
                <a:ea typeface="+mn-lt"/>
                <a:cs typeface="+mn-lt"/>
              </a:rPr>
              <a:t>Slight change in the lighting and/or contrast condition can lead to a big swing in the result</a:t>
            </a:r>
          </a:p>
          <a:p>
            <a:pPr marL="342900" indent="-342900">
              <a:spcAft>
                <a:spcPts val="1200"/>
              </a:spcAft>
              <a:buFont typeface="Wingdings" panose="05000000000000000000" pitchFamily="2" charset="2"/>
              <a:buChar char="Ø"/>
            </a:pPr>
            <a:r>
              <a:rPr lang="en-US" sz="2200" dirty="0">
                <a:solidFill>
                  <a:srgbClr val="FFFFFF"/>
                </a:solidFill>
              </a:rPr>
              <a:t>A simple 2-layer CNN can achieve close to 65% </a:t>
            </a:r>
            <a:r>
              <a:rPr lang="en-US" sz="2200">
                <a:solidFill>
                  <a:srgbClr val="FFFFFF"/>
                </a:solidFill>
              </a:rPr>
              <a:t>accuracy, while being extremely small</a:t>
            </a:r>
            <a:endParaRPr lang="en-US" sz="2200" dirty="0">
              <a:solidFill>
                <a:srgbClr val="FFFFFF"/>
              </a:solidFill>
              <a:ea typeface="Calibri"/>
              <a:cs typeface="Calibri"/>
            </a:endParaRPr>
          </a:p>
          <a:p>
            <a:pPr marL="342900" indent="-342900">
              <a:spcAft>
                <a:spcPts val="1200"/>
              </a:spcAft>
              <a:buFont typeface="Wingdings" panose="05000000000000000000" pitchFamily="2" charset="2"/>
              <a:buChar char="Ø"/>
            </a:pPr>
            <a:r>
              <a:rPr lang="en-US" sz="2200" dirty="0">
                <a:solidFill>
                  <a:srgbClr val="FFFFFF"/>
                </a:solidFill>
              </a:rPr>
              <a:t>Two of the most common errors for all models are between cat and dog, and between automobile and truck</a:t>
            </a:r>
            <a:endParaRPr lang="en-US" dirty="0"/>
          </a:p>
          <a:p>
            <a:pPr marL="342900" indent="-342900">
              <a:spcAft>
                <a:spcPts val="1200"/>
              </a:spcAft>
              <a:buFont typeface="Wingdings" charset="2"/>
              <a:buChar char="Ø"/>
            </a:pPr>
            <a:endParaRPr lang="en-US" sz="2200" dirty="0">
              <a:solidFill>
                <a:srgbClr val="FFFFFF"/>
              </a:solidFill>
            </a:endParaRPr>
          </a:p>
        </p:txBody>
      </p:sp>
      <p:grpSp>
        <p:nvGrpSpPr>
          <p:cNvPr id="23" name="Group 22" descr="Section Header and gold boundless bar"/>
          <p:cNvGrpSpPr/>
          <p:nvPr/>
        </p:nvGrpSpPr>
        <p:grpSpPr>
          <a:xfrm>
            <a:off x="8919188" y="10586430"/>
            <a:ext cx="6972300" cy="904357"/>
            <a:chOff x="8956548" y="11722608"/>
            <a:chExt cx="6972300" cy="904357"/>
          </a:xfrm>
        </p:grpSpPr>
        <p:sp>
          <p:nvSpPr>
            <p:cNvPr id="16" name="TextBox 15" descr="Section Header and gold boundless bar"/>
            <p:cNvSpPr txBox="1"/>
            <p:nvPr/>
          </p:nvSpPr>
          <p:spPr>
            <a:xfrm>
              <a:off x="8956548" y="11722608"/>
              <a:ext cx="6972300" cy="707886"/>
            </a:xfrm>
            <a:prstGeom prst="rect">
              <a:avLst/>
            </a:prstGeom>
            <a:noFill/>
          </p:spPr>
          <p:txBody>
            <a:bodyPr wrap="square" rtlCol="0">
              <a:spAutoFit/>
            </a:bodyPr>
            <a:lstStyle/>
            <a:p>
              <a:r>
                <a:rPr lang="en-US" sz="4000" b="1" dirty="0">
                  <a:solidFill>
                    <a:srgbClr val="0070C0"/>
                  </a:solidFill>
                  <a:latin typeface="Encode Sans Normal Black" charset="0"/>
                </a:rPr>
                <a:t>RESEARCH CONCLUSIONS</a:t>
              </a:r>
            </a:p>
          </p:txBody>
        </p:sp>
        <p:pic>
          <p:nvPicPr>
            <p:cNvPr id="18" name="Picture 17" descr="Gold boundless ba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9895" y="12514189"/>
              <a:ext cx="1399032" cy="112776"/>
            </a:xfrm>
            <a:prstGeom prst="rect">
              <a:avLst/>
            </a:prstGeom>
          </p:spPr>
        </p:pic>
      </p:grpSp>
      <p:sp>
        <p:nvSpPr>
          <p:cNvPr id="19" name="TextBox 18"/>
          <p:cNvSpPr txBox="1"/>
          <p:nvPr/>
        </p:nvSpPr>
        <p:spPr>
          <a:xfrm>
            <a:off x="9029699" y="11817796"/>
            <a:ext cx="6972301" cy="3416320"/>
          </a:xfrm>
          <a:prstGeom prst="rect">
            <a:avLst/>
          </a:prstGeom>
          <a:noFill/>
        </p:spPr>
        <p:txBody>
          <a:bodyPr wrap="square" lIns="91440" tIns="45720" rIns="91440" bIns="45720" rtlCol="0" anchor="t">
            <a:spAutoFit/>
          </a:bodyPr>
          <a:lstStyle/>
          <a:p>
            <a:r>
              <a:rPr lang="en-US" sz="1800" dirty="0">
                <a:solidFill>
                  <a:srgbClr val="000000"/>
                </a:solidFill>
                <a:latin typeface="Open Sans"/>
                <a:ea typeface="Open Sans"/>
                <a:cs typeface="Open Sans"/>
              </a:rPr>
              <a:t>The team was able to present the planning of a custom lightweight CNN architecture amended for edge devices, specifically the </a:t>
            </a:r>
            <a:r>
              <a:rPr lang="en-US" sz="1800" dirty="0" err="1">
                <a:solidFill>
                  <a:srgbClr val="000000"/>
                </a:solidFill>
                <a:latin typeface="Open Sans"/>
                <a:ea typeface="Open Sans"/>
                <a:cs typeface="Open Sans"/>
              </a:rPr>
              <a:t>TinyML</a:t>
            </a:r>
            <a:r>
              <a:rPr lang="en-US" sz="1800" dirty="0">
                <a:solidFill>
                  <a:srgbClr val="000000"/>
                </a:solidFill>
                <a:latin typeface="Open Sans"/>
                <a:ea typeface="Open Sans"/>
                <a:cs typeface="Open Sans"/>
              </a:rPr>
              <a:t> platform</a:t>
            </a:r>
          </a:p>
          <a:p>
            <a:endParaRPr lang="en-US" sz="1800" dirty="0">
              <a:solidFill>
                <a:srgbClr val="000000"/>
              </a:solidFill>
              <a:latin typeface="Open Sans" charset="0"/>
              <a:ea typeface="Open Sans" charset="0"/>
              <a:cs typeface="Open Sans" charset="0"/>
            </a:endParaRPr>
          </a:p>
          <a:p>
            <a:r>
              <a:rPr lang="en-US" sz="1800" b="1" dirty="0">
                <a:solidFill>
                  <a:schemeClr val="bg1"/>
                </a:solidFill>
                <a:latin typeface="Open Sans"/>
                <a:ea typeface="Open Sans"/>
                <a:cs typeface="Open Sans"/>
              </a:rPr>
              <a:t>&gt;</a:t>
            </a:r>
            <a:r>
              <a:rPr lang="en-US" sz="1800" dirty="0">
                <a:solidFill>
                  <a:srgbClr val="000000"/>
                </a:solidFill>
                <a:latin typeface="Open Sans"/>
                <a:ea typeface="Open Sans"/>
                <a:cs typeface="Open Sans"/>
              </a:rPr>
              <a:t>Development of a unique lightweight CNN architecture adapted for small appliances </a:t>
            </a:r>
          </a:p>
          <a:p>
            <a:endParaRPr lang="en-US" sz="1800" dirty="0">
              <a:solidFill>
                <a:srgbClr val="000000"/>
              </a:solidFill>
              <a:latin typeface="Open Sans"/>
              <a:ea typeface="Open Sans"/>
              <a:cs typeface="Open Sans"/>
            </a:endParaRPr>
          </a:p>
          <a:p>
            <a:r>
              <a:rPr lang="en-US" sz="1800" b="1" dirty="0">
                <a:solidFill>
                  <a:schemeClr val="bg1"/>
                </a:solidFill>
                <a:latin typeface="Open Sans"/>
                <a:ea typeface="Open Sans"/>
                <a:cs typeface="Open Sans"/>
              </a:rPr>
              <a:t>&gt; </a:t>
            </a:r>
            <a:r>
              <a:rPr lang="en-US" sz="1800" dirty="0">
                <a:solidFill>
                  <a:srgbClr val="000000"/>
                </a:solidFill>
                <a:latin typeface="Open Sans"/>
                <a:ea typeface="Open Sans"/>
                <a:cs typeface="Open Sans"/>
              </a:rPr>
              <a:t>Successful lineup and up to date inference on an Arduino ML kit</a:t>
            </a:r>
          </a:p>
          <a:p>
            <a:endParaRPr lang="en-US" sz="1800" dirty="0">
              <a:solidFill>
                <a:srgbClr val="000000"/>
              </a:solidFill>
              <a:latin typeface="Open Sans" charset="0"/>
              <a:ea typeface="Open Sans" charset="0"/>
              <a:cs typeface="Open Sans" charset="0"/>
            </a:endParaRPr>
          </a:p>
          <a:p>
            <a:r>
              <a:rPr lang="en-US" sz="1800" b="1" dirty="0">
                <a:solidFill>
                  <a:schemeClr val="bg1"/>
                </a:solidFill>
                <a:latin typeface="Open Sans"/>
                <a:ea typeface="Open Sans"/>
                <a:cs typeface="Open Sans"/>
              </a:rPr>
              <a:t>&gt; </a:t>
            </a:r>
            <a:r>
              <a:rPr lang="en-US" sz="1800" dirty="0">
                <a:solidFill>
                  <a:srgbClr val="000000"/>
                </a:solidFill>
                <a:latin typeface="Open Sans"/>
                <a:ea typeface="Open Sans"/>
                <a:cs typeface="Open Sans"/>
              </a:rPr>
              <a:t>Quick analysis of functioning balance between model complexity and edge usability </a:t>
            </a:r>
          </a:p>
        </p:txBody>
      </p:sp>
      <p:sp>
        <p:nvSpPr>
          <p:cNvPr id="20" name="TextBox 19"/>
          <p:cNvSpPr txBox="1"/>
          <p:nvPr/>
        </p:nvSpPr>
        <p:spPr>
          <a:xfrm>
            <a:off x="9061505" y="20490008"/>
            <a:ext cx="6972301" cy="276999"/>
          </a:xfrm>
          <a:prstGeom prst="rect">
            <a:avLst/>
          </a:prstGeom>
          <a:noFill/>
        </p:spPr>
        <p:txBody>
          <a:bodyPr wrap="square" lIns="91440" tIns="45720" rIns="91440" bIns="45720" rtlCol="0" anchor="t">
            <a:spAutoFit/>
          </a:bodyPr>
          <a:lstStyle/>
          <a:p>
            <a:pPr algn="ctr"/>
            <a:r>
              <a:rPr lang="en-US" sz="1200" dirty="0">
                <a:solidFill>
                  <a:srgbClr val="000000"/>
                </a:solidFill>
                <a:latin typeface="Open Sans"/>
                <a:ea typeface="Open Sans"/>
                <a:cs typeface="Open Sans"/>
              </a:rPr>
              <a:t>Confusion matrix of the CNN model</a:t>
            </a:r>
            <a:endParaRPr lang="en-US" dirty="0">
              <a:ea typeface="Calibri" panose="020F0502020204030204"/>
              <a:cs typeface="Calibri" panose="020F0502020204030204"/>
            </a:endParaRPr>
          </a:p>
        </p:txBody>
      </p:sp>
      <p:grpSp>
        <p:nvGrpSpPr>
          <p:cNvPr id="25" name="Group 24" descr="Section Header and gold boundless bar"/>
          <p:cNvGrpSpPr/>
          <p:nvPr/>
        </p:nvGrpSpPr>
        <p:grpSpPr>
          <a:xfrm>
            <a:off x="16858035" y="5324069"/>
            <a:ext cx="6972300" cy="1488017"/>
            <a:chOff x="8956548" y="11722608"/>
            <a:chExt cx="6972300" cy="1429651"/>
          </a:xfrm>
        </p:grpSpPr>
        <p:sp>
          <p:nvSpPr>
            <p:cNvPr id="26" name="TextBox 25" descr="Section Header placeholder"/>
            <p:cNvSpPr txBox="1"/>
            <p:nvPr/>
          </p:nvSpPr>
          <p:spPr>
            <a:xfrm>
              <a:off x="8956548" y="11722608"/>
              <a:ext cx="6972300" cy="707886"/>
            </a:xfrm>
            <a:prstGeom prst="rect">
              <a:avLst/>
            </a:prstGeom>
            <a:noFill/>
          </p:spPr>
          <p:txBody>
            <a:bodyPr wrap="square" rtlCol="0">
              <a:spAutoFit/>
            </a:bodyPr>
            <a:lstStyle/>
            <a:p>
              <a:r>
                <a:rPr lang="en-US" sz="4000" b="1" dirty="0">
                  <a:solidFill>
                    <a:srgbClr val="0070C0"/>
                  </a:solidFill>
                  <a:latin typeface="Encode Sans Normal Black" charset="0"/>
                  <a:ea typeface="Encode Sans Normal Black" charset="0"/>
                  <a:cs typeface="Encode Sans Normal Black" charset="0"/>
                </a:rPr>
                <a:t>METHODOLOGY AND TOOLS</a:t>
              </a:r>
            </a:p>
          </p:txBody>
        </p:sp>
        <p:pic>
          <p:nvPicPr>
            <p:cNvPr id="27" name="Picture 26" descr="gold boundless ba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2346" y="13039483"/>
              <a:ext cx="1399032" cy="112776"/>
            </a:xfrm>
            <a:prstGeom prst="rect">
              <a:avLst/>
            </a:prstGeom>
          </p:spPr>
        </p:pic>
      </p:grpSp>
      <p:sp>
        <p:nvSpPr>
          <p:cNvPr id="28" name="TextBox 27"/>
          <p:cNvSpPr txBox="1"/>
          <p:nvPr/>
        </p:nvSpPr>
        <p:spPr>
          <a:xfrm>
            <a:off x="16843636" y="7083926"/>
            <a:ext cx="6972301" cy="3139321"/>
          </a:xfrm>
          <a:prstGeom prst="rect">
            <a:avLst/>
          </a:prstGeom>
          <a:noFill/>
        </p:spPr>
        <p:txBody>
          <a:bodyPr wrap="square" lIns="91440" tIns="45720" rIns="91440" bIns="45720" rtlCol="0" anchor="t">
            <a:spAutoFit/>
          </a:bodyPr>
          <a:lstStyle/>
          <a:p>
            <a:r>
              <a:rPr lang="en-US" sz="1800" dirty="0">
                <a:solidFill>
                  <a:srgbClr val="000000"/>
                </a:solidFill>
                <a:latin typeface="Open Sans"/>
                <a:ea typeface="Open Sans"/>
                <a:cs typeface="Open Sans"/>
              </a:rPr>
              <a:t>We created 2 models. One is an MobileNetV3-small using transfer learning on PyTorch. The other one is our own </a:t>
            </a:r>
            <a:r>
              <a:rPr lang="en-US" sz="1800">
                <a:solidFill>
                  <a:srgbClr val="000000"/>
                </a:solidFill>
                <a:latin typeface="Open Sans"/>
                <a:ea typeface="Open Sans"/>
                <a:cs typeface="Open Sans"/>
              </a:rPr>
              <a:t>customed model from scratch in TensorFlow with the aim to be converted to TensorFlow lite.</a:t>
            </a:r>
            <a:endParaRPr lang="en-US" sz="1800">
              <a:solidFill>
                <a:srgbClr val="000000"/>
              </a:solidFill>
              <a:latin typeface="Open Sans" charset="0"/>
              <a:ea typeface="Open Sans" charset="0"/>
              <a:cs typeface="Open Sans" charset="0"/>
            </a:endParaRPr>
          </a:p>
          <a:p>
            <a:endParaRPr lang="en-US" sz="1800" dirty="0">
              <a:solidFill>
                <a:srgbClr val="000000"/>
              </a:solidFill>
              <a:latin typeface="Open Sans" charset="0"/>
              <a:ea typeface="Open Sans" charset="0"/>
              <a:cs typeface="Open Sans" charset="0"/>
            </a:endParaRPr>
          </a:p>
          <a:p>
            <a:r>
              <a:rPr lang="en-US" sz="1800" b="1" dirty="0">
                <a:solidFill>
                  <a:schemeClr val="bg1"/>
                </a:solidFill>
                <a:latin typeface="Open Sans"/>
                <a:ea typeface="Open Sans"/>
                <a:cs typeface="Open Sans"/>
              </a:rPr>
              <a:t>&gt; </a:t>
            </a:r>
            <a:r>
              <a:rPr lang="en-US" sz="1800" dirty="0">
                <a:solidFill>
                  <a:srgbClr val="000000"/>
                </a:solidFill>
                <a:latin typeface="Open Sans"/>
                <a:ea typeface="Open Sans"/>
                <a:cs typeface="Open Sans"/>
              </a:rPr>
              <a:t> Transfer learning model is more complicated but can only be put in a mid-tier edge devices </a:t>
            </a:r>
          </a:p>
          <a:p>
            <a:endParaRPr lang="en-US" sz="1800" dirty="0">
              <a:solidFill>
                <a:srgbClr val="000000"/>
              </a:solidFill>
              <a:latin typeface="Open Sans" charset="0"/>
              <a:ea typeface="Open Sans" charset="0"/>
              <a:cs typeface="Open Sans" charset="0"/>
            </a:endParaRPr>
          </a:p>
          <a:p>
            <a:r>
              <a:rPr lang="en-US" sz="1800" b="1" dirty="0">
                <a:solidFill>
                  <a:schemeClr val="bg1"/>
                </a:solidFill>
                <a:latin typeface="Open Sans"/>
                <a:ea typeface="Open Sans"/>
                <a:cs typeface="Open Sans"/>
              </a:rPr>
              <a:t>&gt; </a:t>
            </a:r>
            <a:r>
              <a:rPr lang="en-US" sz="1800" dirty="0">
                <a:solidFill>
                  <a:srgbClr val="000000"/>
                </a:solidFill>
                <a:latin typeface="Open Sans"/>
                <a:ea typeface="Open Sans"/>
                <a:cs typeface="Open Sans"/>
              </a:rPr>
              <a:t>Our customed CNN is super simple, can be loaded into the smallest of devices, while still got a  respectable score </a:t>
            </a:r>
          </a:p>
          <a:p>
            <a:endParaRPr lang="en-US" sz="1800" dirty="0">
              <a:latin typeface="Open Sans" charset="0"/>
              <a:ea typeface="Open Sans" charset="0"/>
              <a:cs typeface="Open Sans" charset="0"/>
            </a:endParaRPr>
          </a:p>
        </p:txBody>
      </p:sp>
      <p:grpSp>
        <p:nvGrpSpPr>
          <p:cNvPr id="29" name="Group 28" descr="Section Header and gold boundless bar"/>
          <p:cNvGrpSpPr/>
          <p:nvPr/>
        </p:nvGrpSpPr>
        <p:grpSpPr>
          <a:xfrm>
            <a:off x="24766523" y="10692637"/>
            <a:ext cx="6972300" cy="904357"/>
            <a:chOff x="8956548" y="11722608"/>
            <a:chExt cx="6972300" cy="904357"/>
          </a:xfrm>
        </p:grpSpPr>
        <p:sp>
          <p:nvSpPr>
            <p:cNvPr id="30" name="TextBox 29" descr="Section Header "/>
            <p:cNvSpPr txBox="1"/>
            <p:nvPr/>
          </p:nvSpPr>
          <p:spPr>
            <a:xfrm>
              <a:off x="8956548" y="11722608"/>
              <a:ext cx="6972300" cy="707886"/>
            </a:xfrm>
            <a:prstGeom prst="rect">
              <a:avLst/>
            </a:prstGeom>
            <a:noFill/>
          </p:spPr>
          <p:txBody>
            <a:bodyPr wrap="square" rtlCol="0">
              <a:spAutoFit/>
            </a:bodyPr>
            <a:lstStyle/>
            <a:p>
              <a:r>
                <a:rPr lang="en-US" sz="4000" b="1" dirty="0">
                  <a:solidFill>
                    <a:srgbClr val="0070C0"/>
                  </a:solidFill>
                  <a:latin typeface="Encode Sans Normal Black" charset="0"/>
                </a:rPr>
                <a:t>SUMMARY / COMMENTS</a:t>
              </a:r>
            </a:p>
          </p:txBody>
        </p:sp>
        <p:pic>
          <p:nvPicPr>
            <p:cNvPr id="31" name="Picture 30" descr="gold boundless ba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9895" y="12514189"/>
              <a:ext cx="1399032" cy="112776"/>
            </a:xfrm>
            <a:prstGeom prst="rect">
              <a:avLst/>
            </a:prstGeom>
          </p:spPr>
        </p:pic>
      </p:grpSp>
      <p:sp>
        <p:nvSpPr>
          <p:cNvPr id="32" name="TextBox 31"/>
          <p:cNvSpPr txBox="1"/>
          <p:nvPr/>
        </p:nvSpPr>
        <p:spPr>
          <a:xfrm>
            <a:off x="24839674" y="11927199"/>
            <a:ext cx="6972301" cy="4247317"/>
          </a:xfrm>
          <a:prstGeom prst="rect">
            <a:avLst/>
          </a:prstGeom>
          <a:noFill/>
        </p:spPr>
        <p:txBody>
          <a:bodyPr wrap="square" lIns="91440" tIns="45720" rIns="91440" bIns="45720" rtlCol="0" anchor="t">
            <a:spAutoFit/>
          </a:bodyPr>
          <a:lstStyle/>
          <a:p>
            <a:r>
              <a:rPr lang="en-US" sz="1800">
                <a:solidFill>
                  <a:srgbClr val="000000"/>
                </a:solidFill>
                <a:latin typeface="Open Sans"/>
                <a:ea typeface="Open Sans"/>
                <a:cs typeface="Open Sans"/>
              </a:rPr>
              <a:t>The outcome of this project explains architectural progression; deep learning models can be efficiently completed on limited edge devices. This covers the way for more practical, intelligent applications in the expanding sector of IoT and embedded devices. </a:t>
            </a:r>
          </a:p>
          <a:p>
            <a:endParaRPr lang="en-US" sz="1800" dirty="0">
              <a:ea typeface="+mn-lt"/>
              <a:cs typeface="+mn-lt"/>
            </a:endParaRPr>
          </a:p>
          <a:p>
            <a:r>
              <a:rPr lang="en-US" sz="1800">
                <a:solidFill>
                  <a:srgbClr val="000000"/>
                </a:solidFill>
                <a:latin typeface="Open Sans"/>
                <a:ea typeface="Open Sans"/>
                <a:cs typeface="Open Sans"/>
              </a:rPr>
              <a:t>To further improve on our project, we can:</a:t>
            </a:r>
            <a:endParaRPr lang="en-US" sz="1800" dirty="0">
              <a:solidFill>
                <a:srgbClr val="000000"/>
              </a:solidFill>
              <a:latin typeface="Open Sans"/>
              <a:ea typeface="Open Sans"/>
              <a:cs typeface="Open Sans"/>
            </a:endParaRPr>
          </a:p>
          <a:p>
            <a:pPr marL="285750" indent="-285750">
              <a:buFont typeface="Wingdings"/>
              <a:buChar char="Ø"/>
            </a:pPr>
            <a:r>
              <a:rPr lang="en-US" sz="1800">
                <a:solidFill>
                  <a:srgbClr val="000000"/>
                </a:solidFill>
                <a:latin typeface="Open Sans"/>
                <a:ea typeface="Open Sans"/>
                <a:cs typeface="Open Sans"/>
              </a:rPr>
              <a:t>Expansion to support additional tasks such as object </a:t>
            </a:r>
            <a:r>
              <a:rPr lang="en-US" sz="1800" dirty="0">
                <a:solidFill>
                  <a:srgbClr val="000000"/>
                </a:solidFill>
                <a:latin typeface="Open Sans"/>
                <a:ea typeface="Open Sans"/>
                <a:cs typeface="Open Sans"/>
              </a:rPr>
              <a:t>detection or multi-class classification.  </a:t>
            </a:r>
            <a:endParaRPr lang="en-US" sz="1800">
              <a:solidFill>
                <a:srgbClr val="000000"/>
              </a:solidFill>
              <a:latin typeface="Open Sans"/>
              <a:ea typeface="Open Sans"/>
              <a:cs typeface="Open Sans"/>
            </a:endParaRPr>
          </a:p>
          <a:p>
            <a:pPr marL="285750" indent="-285750">
              <a:buFont typeface="Wingdings"/>
              <a:buChar char="Ø"/>
            </a:pPr>
            <a:r>
              <a:rPr lang="en-US" sz="1800">
                <a:solidFill>
                  <a:srgbClr val="000000"/>
                </a:solidFill>
                <a:latin typeface="Open Sans"/>
                <a:ea typeface="Open Sans"/>
                <a:cs typeface="Open Sans"/>
              </a:rPr>
              <a:t>Maintaining progressive optimization </a:t>
            </a:r>
            <a:r>
              <a:rPr lang="en-US" sz="1800" dirty="0">
                <a:solidFill>
                  <a:srgbClr val="000000"/>
                </a:solidFill>
                <a:latin typeface="Open Sans"/>
                <a:ea typeface="Open Sans"/>
                <a:cs typeface="Open Sans"/>
              </a:rPr>
              <a:t>methods like pruning and co-training. </a:t>
            </a:r>
            <a:endParaRPr lang="en-US" sz="1800">
              <a:solidFill>
                <a:srgbClr val="000000"/>
              </a:solidFill>
              <a:latin typeface="Open Sans"/>
              <a:ea typeface="Open Sans"/>
              <a:cs typeface="Open Sans"/>
            </a:endParaRPr>
          </a:p>
          <a:p>
            <a:pPr marL="285750" indent="-285750">
              <a:buFont typeface="Wingdings"/>
              <a:buChar char="Ø"/>
            </a:pPr>
            <a:r>
              <a:rPr lang="en-US" sz="1800">
                <a:solidFill>
                  <a:srgbClr val="000000"/>
                </a:solidFill>
                <a:latin typeface="Open Sans"/>
                <a:ea typeface="Open Sans"/>
                <a:cs typeface="Open Sans"/>
              </a:rPr>
              <a:t>Testing the model on varied hardware platforms to promote growth.</a:t>
            </a:r>
          </a:p>
          <a:p>
            <a:pPr marL="285750" indent="-285750">
              <a:buFont typeface="Wingdings"/>
              <a:buChar char="Ø"/>
            </a:pPr>
            <a:r>
              <a:rPr lang="en-US" sz="1800">
                <a:solidFill>
                  <a:srgbClr val="000000"/>
                </a:solidFill>
                <a:latin typeface="Open Sans"/>
                <a:ea typeface="Open Sans"/>
                <a:cs typeface="Open Sans"/>
              </a:rPr>
              <a:t>Integrate transfer learning to adapt the model for new datasets with </a:t>
            </a:r>
            <a:r>
              <a:rPr lang="en-US" sz="1800" dirty="0">
                <a:solidFill>
                  <a:srgbClr val="000000"/>
                </a:solidFill>
                <a:latin typeface="Open Sans"/>
                <a:ea typeface="Open Sans"/>
                <a:cs typeface="Open Sans"/>
              </a:rPr>
              <a:t>refinement </a:t>
            </a:r>
            <a:endParaRPr lang="en-US" sz="1800">
              <a:solidFill>
                <a:srgbClr val="000000"/>
              </a:solidFill>
              <a:latin typeface="Open Sans"/>
              <a:ea typeface="Open Sans"/>
              <a:cs typeface="Open Sans"/>
            </a:endParaRPr>
          </a:p>
        </p:txBody>
      </p:sp>
      <p:grpSp>
        <p:nvGrpSpPr>
          <p:cNvPr id="33" name="Group 32" descr="Section Header and gold boundless bar"/>
          <p:cNvGrpSpPr/>
          <p:nvPr/>
        </p:nvGrpSpPr>
        <p:grpSpPr>
          <a:xfrm>
            <a:off x="16843248" y="14257543"/>
            <a:ext cx="6972300" cy="904357"/>
            <a:chOff x="8956548" y="11722608"/>
            <a:chExt cx="6972300" cy="904357"/>
          </a:xfrm>
        </p:grpSpPr>
        <p:sp>
          <p:nvSpPr>
            <p:cNvPr id="34" name="TextBox 33" descr="Section Header "/>
            <p:cNvSpPr txBox="1"/>
            <p:nvPr/>
          </p:nvSpPr>
          <p:spPr>
            <a:xfrm>
              <a:off x="8956548" y="11722608"/>
              <a:ext cx="6972300" cy="707886"/>
            </a:xfrm>
            <a:prstGeom prst="rect">
              <a:avLst/>
            </a:prstGeom>
            <a:noFill/>
          </p:spPr>
          <p:txBody>
            <a:bodyPr wrap="square" rtlCol="0">
              <a:spAutoFit/>
            </a:bodyPr>
            <a:lstStyle/>
            <a:p>
              <a:r>
                <a:rPr lang="en-US" sz="4000" b="1" dirty="0">
                  <a:solidFill>
                    <a:srgbClr val="0070C0"/>
                  </a:solidFill>
                  <a:latin typeface="Encode Sans Normal Black" charset="0"/>
                </a:rPr>
                <a:t>DEVELOPMENT</a:t>
              </a:r>
            </a:p>
          </p:txBody>
        </p:sp>
        <p:pic>
          <p:nvPicPr>
            <p:cNvPr id="35" name="Picture 34" descr="gold boundless ba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9895" y="12514189"/>
              <a:ext cx="1399032" cy="112776"/>
            </a:xfrm>
            <a:prstGeom prst="rect">
              <a:avLst/>
            </a:prstGeom>
          </p:spPr>
        </p:pic>
      </p:grpSp>
      <p:sp>
        <p:nvSpPr>
          <p:cNvPr id="36" name="TextBox 35"/>
          <p:cNvSpPr txBox="1"/>
          <p:nvPr/>
        </p:nvSpPr>
        <p:spPr>
          <a:xfrm>
            <a:off x="16916399" y="15394133"/>
            <a:ext cx="6972301" cy="4524315"/>
          </a:xfrm>
          <a:prstGeom prst="rect">
            <a:avLst/>
          </a:prstGeom>
          <a:noFill/>
        </p:spPr>
        <p:txBody>
          <a:bodyPr wrap="square" lIns="91440" tIns="45720" rIns="91440" bIns="45720" rtlCol="0" anchor="t">
            <a:spAutoFit/>
          </a:bodyPr>
          <a:lstStyle/>
          <a:p>
            <a:r>
              <a:rPr lang="en-US" sz="1800" dirty="0">
                <a:solidFill>
                  <a:srgbClr val="000000"/>
                </a:solidFill>
                <a:latin typeface="Open Sans"/>
                <a:ea typeface="Open Sans"/>
                <a:cs typeface="Open Sans"/>
              </a:rPr>
              <a:t>After we trained our 2 model, we attempted to create a simple application </a:t>
            </a:r>
            <a:r>
              <a:rPr lang="en-US" sz="1800">
                <a:solidFill>
                  <a:srgbClr val="000000"/>
                </a:solidFill>
                <a:latin typeface="Open Sans"/>
                <a:ea typeface="Open Sans"/>
                <a:cs typeface="Open Sans"/>
              </a:rPr>
              <a:t>that let our potential users to test our product</a:t>
            </a:r>
            <a:endParaRPr lang="en-US"/>
          </a:p>
          <a:p>
            <a:r>
              <a:rPr lang="en-US" sz="1800" b="1" dirty="0">
                <a:solidFill>
                  <a:schemeClr val="bg1"/>
                </a:solidFill>
                <a:latin typeface="Open Sans"/>
                <a:ea typeface="Open Sans"/>
                <a:cs typeface="Open Sans"/>
              </a:rPr>
              <a:t>&gt; </a:t>
            </a:r>
            <a:r>
              <a:rPr lang="en-US" sz="1800">
                <a:solidFill>
                  <a:srgbClr val="000000"/>
                </a:solidFill>
                <a:latin typeface="Open Sans"/>
                <a:ea typeface="Open Sans"/>
                <a:cs typeface="Open Sans"/>
              </a:rPr>
              <a:t>The application is developed using Streamlit, FastAPI, with </a:t>
            </a:r>
            <a:r>
              <a:rPr lang="en-US" sz="1800" dirty="0">
                <a:solidFill>
                  <a:srgbClr val="000000"/>
                </a:solidFill>
                <a:latin typeface="Open Sans"/>
                <a:ea typeface="Open Sans"/>
                <a:cs typeface="Open Sans"/>
              </a:rPr>
              <a:t>the model was loaded to the server by PyTorch framework</a:t>
            </a:r>
            <a:endParaRPr lang="en-US" sz="5150" dirty="0">
              <a:solidFill>
                <a:srgbClr val="33006F"/>
              </a:solidFill>
              <a:latin typeface="Calibri"/>
              <a:ea typeface="Calibri"/>
              <a:cs typeface="Calibri"/>
            </a:endParaRPr>
          </a:p>
          <a:p>
            <a:endParaRPr lang="en-US" sz="1800" dirty="0">
              <a:solidFill>
                <a:srgbClr val="000000"/>
              </a:solidFill>
              <a:latin typeface="Open Sans"/>
              <a:ea typeface="Open Sans"/>
              <a:cs typeface="Open Sans"/>
            </a:endParaRPr>
          </a:p>
          <a:p>
            <a:r>
              <a:rPr lang="en-US" sz="1800" b="1" dirty="0">
                <a:solidFill>
                  <a:schemeClr val="bg1"/>
                </a:solidFill>
                <a:latin typeface="Open Sans"/>
                <a:ea typeface="Open Sans"/>
                <a:cs typeface="Open Sans"/>
              </a:rPr>
              <a:t>&gt; </a:t>
            </a:r>
            <a:r>
              <a:rPr lang="en-US" sz="1800">
                <a:solidFill>
                  <a:srgbClr val="000000"/>
                </a:solidFill>
                <a:latin typeface="Open Sans"/>
                <a:ea typeface="Open Sans"/>
                <a:cs typeface="Open Sans"/>
              </a:rPr>
              <a:t>It need user login. After that, it allows users to</a:t>
            </a:r>
          </a:p>
          <a:p>
            <a:endParaRPr lang="en-US" sz="1800" dirty="0">
              <a:solidFill>
                <a:srgbClr val="000000"/>
              </a:solidFill>
              <a:latin typeface="Open Sans"/>
              <a:ea typeface="Open Sans"/>
              <a:cs typeface="Open Sans"/>
            </a:endParaRPr>
          </a:p>
          <a:p>
            <a:pPr marL="285750" indent="-285750">
              <a:buFont typeface="Wingdings" panose="05000000000000000000" pitchFamily="2" charset="2"/>
              <a:buChar char="Ø"/>
            </a:pPr>
            <a:r>
              <a:rPr lang="en-US" sz="1800">
                <a:solidFill>
                  <a:srgbClr val="000000"/>
                </a:solidFill>
                <a:latin typeface="Open Sans"/>
                <a:ea typeface="Open Sans"/>
                <a:cs typeface="Open Sans"/>
              </a:rPr>
              <a:t>Upload the image and get the prediction</a:t>
            </a:r>
          </a:p>
          <a:p>
            <a:pPr marL="285750" indent="-285750">
              <a:buFont typeface="Wingdings" panose="05000000000000000000" pitchFamily="2" charset="2"/>
              <a:buChar char="Ø"/>
            </a:pPr>
            <a:r>
              <a:rPr lang="en-US" sz="1800">
                <a:solidFill>
                  <a:srgbClr val="000000"/>
                </a:solidFill>
                <a:latin typeface="Open Sans"/>
                <a:ea typeface="Open Sans"/>
                <a:cs typeface="Open Sans"/>
              </a:rPr>
              <a:t>Report wrong classification</a:t>
            </a:r>
            <a:endParaRPr lang="en-US" sz="1800" dirty="0">
              <a:solidFill>
                <a:srgbClr val="000000"/>
              </a:solidFill>
              <a:latin typeface="Open Sans"/>
              <a:ea typeface="Open Sans"/>
              <a:cs typeface="Open Sans"/>
            </a:endParaRPr>
          </a:p>
          <a:p>
            <a:pPr marL="285750" indent="-285750">
              <a:buFont typeface="Wingdings" panose="05000000000000000000" pitchFamily="2" charset="2"/>
              <a:buChar char="Ø"/>
            </a:pPr>
            <a:r>
              <a:rPr lang="en-US" sz="1800">
                <a:solidFill>
                  <a:srgbClr val="000000"/>
                </a:solidFill>
                <a:latin typeface="Open Sans"/>
                <a:ea typeface="Open Sans"/>
                <a:cs typeface="Open Sans"/>
              </a:rPr>
              <a:t>See past preditions, and the image on the cloud</a:t>
            </a:r>
            <a:endParaRPr lang="en-US" sz="1800" dirty="0">
              <a:solidFill>
                <a:srgbClr val="000000"/>
              </a:solidFill>
              <a:latin typeface="Open Sans"/>
              <a:ea typeface="Open Sans"/>
              <a:cs typeface="Open Sans"/>
            </a:endParaRPr>
          </a:p>
          <a:p>
            <a:pPr marL="285750" indent="-285750">
              <a:buFont typeface="Wingdings" panose="05000000000000000000" pitchFamily="2" charset="2"/>
              <a:buChar char="Ø"/>
            </a:pPr>
            <a:endParaRPr lang="en-US" sz="1800" b="1" dirty="0">
              <a:solidFill>
                <a:schemeClr val="bg1"/>
              </a:solidFill>
              <a:latin typeface="Open Sans"/>
              <a:ea typeface="Open Sans"/>
              <a:cs typeface="Open Sans"/>
            </a:endParaRPr>
          </a:p>
          <a:p>
            <a:r>
              <a:rPr lang="en-US" sz="1800" b="1" dirty="0">
                <a:solidFill>
                  <a:schemeClr val="bg1"/>
                </a:solidFill>
                <a:latin typeface="Open Sans"/>
                <a:ea typeface="Open Sans"/>
                <a:cs typeface="Open Sans"/>
              </a:rPr>
              <a:t>&gt; </a:t>
            </a:r>
            <a:r>
              <a:rPr lang="en-US" sz="1800">
                <a:solidFill>
                  <a:srgbClr val="000000"/>
                </a:solidFill>
                <a:latin typeface="Open Sans"/>
                <a:ea typeface="Open Sans"/>
                <a:cs typeface="Open Sans"/>
              </a:rPr>
              <a:t>To simulate an email service to warn the data scientist about </a:t>
            </a:r>
            <a:r>
              <a:rPr lang="en-US" sz="1800" dirty="0">
                <a:solidFill>
                  <a:srgbClr val="000000"/>
                </a:solidFill>
                <a:latin typeface="Open Sans"/>
                <a:ea typeface="Open Sans"/>
                <a:cs typeface="Open Sans"/>
              </a:rPr>
              <a:t>performance of the model </a:t>
            </a:r>
          </a:p>
          <a:p>
            <a:pPr marL="285750" indent="-285750">
              <a:buFont typeface="Wingdings" panose="05000000000000000000" pitchFamily="2" charset="2"/>
              <a:buChar char="Ø"/>
            </a:pPr>
            <a:r>
              <a:rPr lang="en-US" sz="1800">
                <a:solidFill>
                  <a:srgbClr val="000000"/>
                </a:solidFill>
                <a:latin typeface="Open Sans"/>
                <a:ea typeface="Open Sans"/>
                <a:cs typeface="Open Sans"/>
              </a:rPr>
              <a:t>We have  set threshhold for reported prediction</a:t>
            </a:r>
          </a:p>
          <a:p>
            <a:pPr marL="285750" indent="-285750">
              <a:buFont typeface="Wingdings" panose="05000000000000000000" pitchFamily="2" charset="2"/>
              <a:buChar char="Ø"/>
            </a:pPr>
            <a:r>
              <a:rPr lang="en-US" sz="1800">
                <a:solidFill>
                  <a:srgbClr val="000000"/>
                </a:solidFill>
                <a:latin typeface="Open Sans"/>
                <a:ea typeface="Open Sans"/>
                <a:cs typeface="Open Sans"/>
              </a:rPr>
              <a:t>It will send an email to notify the concerned parties</a:t>
            </a:r>
          </a:p>
          <a:p>
            <a:pPr marL="285750" indent="-285750">
              <a:buFont typeface="Wingdings" panose="05000000000000000000" pitchFamily="2" charset="2"/>
              <a:buChar char="Ø"/>
            </a:pPr>
            <a:r>
              <a:rPr lang="en-US" sz="1800">
                <a:solidFill>
                  <a:srgbClr val="000000"/>
                </a:solidFill>
                <a:latin typeface="Open Sans"/>
                <a:ea typeface="Open Sans"/>
                <a:cs typeface="Open Sans"/>
              </a:rPr>
              <a:t>For this we are using the scheduler from Python</a:t>
            </a:r>
            <a:endParaRPr lang="en-US" sz="1800" dirty="0">
              <a:solidFill>
                <a:srgbClr val="000000"/>
              </a:solidFill>
              <a:latin typeface="Open Sans"/>
              <a:ea typeface="Open Sans"/>
              <a:cs typeface="Open Sans"/>
            </a:endParaRPr>
          </a:p>
        </p:txBody>
      </p:sp>
      <p:sp>
        <p:nvSpPr>
          <p:cNvPr id="39" name="TextBox 38"/>
          <p:cNvSpPr txBox="1"/>
          <p:nvPr/>
        </p:nvSpPr>
        <p:spPr>
          <a:xfrm>
            <a:off x="24832283" y="20554513"/>
            <a:ext cx="6972301" cy="276999"/>
          </a:xfrm>
          <a:prstGeom prst="rect">
            <a:avLst/>
          </a:prstGeom>
          <a:noFill/>
        </p:spPr>
        <p:txBody>
          <a:bodyPr wrap="square" lIns="91440" tIns="45720" rIns="91440" bIns="45720" rtlCol="0" anchor="t">
            <a:spAutoFit/>
          </a:bodyPr>
          <a:lstStyle/>
          <a:p>
            <a:pPr algn="ctr"/>
            <a:r>
              <a:rPr lang="en-US" sz="1200">
                <a:solidFill>
                  <a:srgbClr val="000000"/>
                </a:solidFill>
                <a:latin typeface="Open Sans"/>
                <a:ea typeface="Open Sans"/>
                <a:cs typeface="Open Sans"/>
              </a:rPr>
              <a:t>Past prediction table</a:t>
            </a:r>
            <a:endParaRPr lang="en-US">
              <a:ea typeface="Calibri" panose="020F0502020204030204"/>
              <a:cs typeface="Calibri" panose="020F0502020204030204"/>
            </a:endParaRPr>
          </a:p>
        </p:txBody>
      </p:sp>
      <p:sp>
        <p:nvSpPr>
          <p:cNvPr id="61" name="TextBox 60"/>
          <p:cNvSpPr txBox="1"/>
          <p:nvPr/>
        </p:nvSpPr>
        <p:spPr>
          <a:xfrm>
            <a:off x="17003949" y="10318932"/>
            <a:ext cx="6972300" cy="553998"/>
          </a:xfrm>
          <a:prstGeom prst="rect">
            <a:avLst/>
          </a:prstGeom>
          <a:noFill/>
        </p:spPr>
        <p:txBody>
          <a:bodyPr wrap="square" lIns="91440" tIns="45720" rIns="91440" bIns="45720" rtlCol="0" anchor="t">
            <a:spAutoFit/>
          </a:bodyPr>
          <a:lstStyle/>
          <a:p>
            <a:pPr algn="ctr"/>
            <a:r>
              <a:rPr lang="en-US" sz="3000" dirty="0">
                <a:latin typeface="Uni Sans Book"/>
                <a:ea typeface="Uni Sans Book" charset="0"/>
                <a:cs typeface="Uni Sans Book" charset="0"/>
              </a:rPr>
              <a:t>Sample prediction of CNN model</a:t>
            </a:r>
          </a:p>
        </p:txBody>
      </p:sp>
      <p:sp>
        <p:nvSpPr>
          <p:cNvPr id="62" name="TextBox 61"/>
          <p:cNvSpPr txBox="1"/>
          <p:nvPr/>
        </p:nvSpPr>
        <p:spPr>
          <a:xfrm>
            <a:off x="9056250" y="5314679"/>
            <a:ext cx="6972300" cy="553998"/>
          </a:xfrm>
          <a:prstGeom prst="rect">
            <a:avLst/>
          </a:prstGeom>
          <a:noFill/>
        </p:spPr>
        <p:txBody>
          <a:bodyPr wrap="square" lIns="91440" tIns="45720" rIns="91440" bIns="45720" rtlCol="0" anchor="t">
            <a:spAutoFit/>
          </a:bodyPr>
          <a:lstStyle/>
          <a:p>
            <a:pPr algn="ctr"/>
            <a:r>
              <a:rPr lang="en-US" sz="3000" dirty="0">
                <a:solidFill>
                  <a:srgbClr val="0070C0"/>
                </a:solidFill>
                <a:latin typeface="Uni Sans Book"/>
              </a:rPr>
              <a:t>Effect of quantization</a:t>
            </a:r>
            <a:endParaRPr lang="en-US" sz="3000" dirty="0">
              <a:solidFill>
                <a:srgbClr val="0070C0"/>
              </a:solidFill>
              <a:latin typeface="Uni Sans Book" charset="0"/>
            </a:endParaRPr>
          </a:p>
        </p:txBody>
      </p:sp>
      <p:sp>
        <p:nvSpPr>
          <p:cNvPr id="67" name="TextBox 66"/>
          <p:cNvSpPr txBox="1"/>
          <p:nvPr/>
        </p:nvSpPr>
        <p:spPr>
          <a:xfrm>
            <a:off x="24816816" y="5314679"/>
            <a:ext cx="6972300" cy="553998"/>
          </a:xfrm>
          <a:prstGeom prst="rect">
            <a:avLst/>
          </a:prstGeom>
          <a:noFill/>
        </p:spPr>
        <p:txBody>
          <a:bodyPr wrap="square" lIns="91440" tIns="45720" rIns="91440" bIns="45720" rtlCol="0" anchor="t">
            <a:spAutoFit/>
          </a:bodyPr>
          <a:lstStyle/>
          <a:p>
            <a:pPr algn="ctr"/>
            <a:r>
              <a:rPr lang="en-US" sz="3000">
                <a:solidFill>
                  <a:srgbClr val="0070C0"/>
                </a:solidFill>
                <a:latin typeface="Uni Sans Book"/>
                <a:ea typeface="Uni Sans Book" charset="0"/>
                <a:cs typeface="Uni Sans Book" charset="0"/>
              </a:rPr>
              <a:t>Model saw airplanes on an aircraft carrier</a:t>
            </a:r>
            <a:endParaRPr lang="en-US" sz="3000" dirty="0">
              <a:solidFill>
                <a:srgbClr val="0070C0"/>
              </a:solidFill>
              <a:latin typeface="Uni Sans Book"/>
              <a:ea typeface="Uni Sans Book" charset="0"/>
              <a:cs typeface="Uni Sans Book" charset="0"/>
            </a:endParaRPr>
          </a:p>
        </p:txBody>
      </p:sp>
      <p:pic>
        <p:nvPicPr>
          <p:cNvPr id="47" name="Picture 46" descr="Gold Boundless Bar" title="Gold Boundless Ba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0" y="2534613"/>
            <a:ext cx="3877056" cy="950976"/>
          </a:xfrm>
          <a:prstGeom prst="rect">
            <a:avLst/>
          </a:prstGeom>
        </p:spPr>
      </p:pic>
      <p:cxnSp>
        <p:nvCxnSpPr>
          <p:cNvPr id="5" name="Straight Connector 4" descr="Gold rule line divider"/>
          <p:cNvCxnSpPr/>
          <p:nvPr/>
        </p:nvCxnSpPr>
        <p:spPr>
          <a:xfrm>
            <a:off x="8598568" y="5458380"/>
            <a:ext cx="0" cy="153442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descr="Gold rule line divider"/>
          <p:cNvCxnSpPr/>
          <p:nvPr/>
        </p:nvCxnSpPr>
        <p:spPr>
          <a:xfrm>
            <a:off x="16459200" y="5466535"/>
            <a:ext cx="0" cy="153442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descr="Gold rule line divider"/>
          <p:cNvCxnSpPr/>
          <p:nvPr/>
        </p:nvCxnSpPr>
        <p:spPr>
          <a:xfrm>
            <a:off x="24346568" y="5458380"/>
            <a:ext cx="0" cy="153442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A9957799-E626-444D-AB49-05F3A80A1545}"/>
              </a:ext>
            </a:extLst>
          </p:cNvPr>
          <p:cNvSpPr txBox="1"/>
          <p:nvPr/>
        </p:nvSpPr>
        <p:spPr>
          <a:xfrm>
            <a:off x="24955500" y="21018468"/>
            <a:ext cx="6972301" cy="307777"/>
          </a:xfrm>
          <a:prstGeom prst="rect">
            <a:avLst/>
          </a:prstGeom>
          <a:noFill/>
        </p:spPr>
        <p:txBody>
          <a:bodyPr wrap="square" lIns="91440" tIns="45720" rIns="91440" bIns="45720" rtlCol="0" anchor="t">
            <a:spAutoFit/>
          </a:bodyPr>
          <a:lstStyle/>
          <a:p>
            <a:pPr algn="r"/>
            <a:r>
              <a:rPr lang="en-US" sz="1400" b="1">
                <a:solidFill>
                  <a:srgbClr val="000000"/>
                </a:solidFill>
                <a:latin typeface="Open Sans"/>
                <a:ea typeface="Open Sans"/>
                <a:cs typeface="Open Sans"/>
              </a:rPr>
              <a:t>S3, 2025/07/24</a:t>
            </a:r>
          </a:p>
        </p:txBody>
      </p:sp>
      <p:sp>
        <p:nvSpPr>
          <p:cNvPr id="60" name="TextBox 59">
            <a:extLst>
              <a:ext uri="{FF2B5EF4-FFF2-40B4-BE49-F238E27FC236}">
                <a16:creationId xmlns:a16="http://schemas.microsoft.com/office/drawing/2014/main" id="{CD1E7047-F5C3-4D38-A950-042FB8333A86}"/>
              </a:ext>
            </a:extLst>
          </p:cNvPr>
          <p:cNvSpPr txBox="1"/>
          <p:nvPr/>
        </p:nvSpPr>
        <p:spPr>
          <a:xfrm>
            <a:off x="1168399" y="3950209"/>
            <a:ext cx="16734203" cy="1015663"/>
          </a:xfrm>
          <a:prstGeom prst="rect">
            <a:avLst/>
          </a:prstGeom>
          <a:noFill/>
        </p:spPr>
        <p:txBody>
          <a:bodyPr wrap="square" lIns="91440" tIns="45720" rIns="91440" bIns="45720" rtlCol="0" anchor="t">
            <a:spAutoFit/>
          </a:bodyPr>
          <a:lstStyle/>
          <a:p>
            <a:r>
              <a:rPr lang="en-US" sz="3000" dirty="0">
                <a:solidFill>
                  <a:srgbClr val="FFFFFF"/>
                </a:solidFill>
                <a:ea typeface="+mn-lt"/>
                <a:cs typeface="+mn-lt"/>
              </a:rPr>
              <a:t>Ngoc Lam Nguyen, </a:t>
            </a:r>
            <a:r>
              <a:rPr lang="en-US" sz="3000" err="1">
                <a:solidFill>
                  <a:srgbClr val="FFFFFF"/>
                </a:solidFill>
                <a:ea typeface="+mn-lt"/>
                <a:cs typeface="+mn-lt"/>
              </a:rPr>
              <a:t>Jatinkumar</a:t>
            </a:r>
            <a:r>
              <a:rPr lang="en-US" sz="3000" dirty="0">
                <a:solidFill>
                  <a:srgbClr val="FFFFFF"/>
                </a:solidFill>
                <a:ea typeface="+mn-lt"/>
                <a:cs typeface="+mn-lt"/>
              </a:rPr>
              <a:t> </a:t>
            </a:r>
            <a:r>
              <a:rPr lang="en-US" sz="3000" err="1">
                <a:solidFill>
                  <a:srgbClr val="FFFFFF"/>
                </a:solidFill>
                <a:ea typeface="+mn-lt"/>
                <a:cs typeface="+mn-lt"/>
              </a:rPr>
              <a:t>keshabhai</a:t>
            </a:r>
            <a:r>
              <a:rPr lang="en-US" sz="3000">
                <a:solidFill>
                  <a:srgbClr val="FFFFFF"/>
                </a:solidFill>
                <a:ea typeface="+mn-lt"/>
                <a:cs typeface="+mn-lt"/>
              </a:rPr>
              <a:t> Parmar, </a:t>
            </a:r>
            <a:r>
              <a:rPr lang="en-US" sz="3000" err="1">
                <a:solidFill>
                  <a:srgbClr val="FFFFFF"/>
                </a:solidFill>
                <a:ea typeface="+mn-lt"/>
                <a:cs typeface="+mn-lt"/>
              </a:rPr>
              <a:t>Narigela</a:t>
            </a:r>
            <a:r>
              <a:rPr lang="en-US" sz="3000" dirty="0">
                <a:solidFill>
                  <a:srgbClr val="FFFFFF"/>
                </a:solidFill>
                <a:ea typeface="+mn-lt"/>
                <a:cs typeface="+mn-lt"/>
              </a:rPr>
              <a:t> Grishma Reddy, Revanth </a:t>
            </a:r>
            <a:r>
              <a:rPr lang="en-US" sz="3000" err="1">
                <a:solidFill>
                  <a:srgbClr val="FFFFFF"/>
                </a:solidFill>
                <a:ea typeface="+mn-lt"/>
                <a:cs typeface="+mn-lt"/>
              </a:rPr>
              <a:t>Puvaneswaran</a:t>
            </a:r>
            <a:r>
              <a:rPr lang="en-US" sz="3000" dirty="0">
                <a:solidFill>
                  <a:srgbClr val="FFFFFF"/>
                </a:solidFill>
                <a:ea typeface="+mn-lt"/>
                <a:cs typeface="+mn-lt"/>
              </a:rPr>
              <a:t> </a:t>
            </a:r>
            <a:endParaRPr lang="en-US" dirty="0">
              <a:ea typeface="+mn-lt"/>
              <a:cs typeface="+mn-lt"/>
            </a:endParaRPr>
          </a:p>
          <a:p>
            <a:endParaRPr lang="en-US" sz="3000" dirty="0">
              <a:solidFill>
                <a:srgbClr val="FFFFFF"/>
              </a:solidFill>
              <a:latin typeface="Open Sans"/>
              <a:ea typeface="Open Sans"/>
              <a:cs typeface="Open Sans"/>
            </a:endParaRPr>
          </a:p>
        </p:txBody>
      </p:sp>
      <p:sp>
        <p:nvSpPr>
          <p:cNvPr id="65" name="TextBox 64">
            <a:extLst>
              <a:ext uri="{FF2B5EF4-FFF2-40B4-BE49-F238E27FC236}">
                <a16:creationId xmlns:a16="http://schemas.microsoft.com/office/drawing/2014/main" id="{B18ECEEA-47F1-4097-8543-DEEE2CFC1415}"/>
              </a:ext>
            </a:extLst>
          </p:cNvPr>
          <p:cNvSpPr txBox="1"/>
          <p:nvPr/>
        </p:nvSpPr>
        <p:spPr>
          <a:xfrm>
            <a:off x="17746144" y="3967141"/>
            <a:ext cx="6972296" cy="553998"/>
          </a:xfrm>
          <a:prstGeom prst="rect">
            <a:avLst/>
          </a:prstGeom>
          <a:noFill/>
        </p:spPr>
        <p:txBody>
          <a:bodyPr wrap="square" lIns="91440" tIns="45720" rIns="91440" bIns="45720" rtlCol="0" anchor="t">
            <a:spAutoFit/>
          </a:bodyPr>
          <a:lstStyle/>
          <a:p>
            <a:r>
              <a:rPr lang="en-US" sz="3000" dirty="0">
                <a:solidFill>
                  <a:srgbClr val="FFFFFF"/>
                </a:solidFill>
                <a:latin typeface="Open Sans"/>
                <a:ea typeface="Open Sans"/>
                <a:cs typeface="Open Sans"/>
              </a:rPr>
              <a:t>Data Science and Analytics (DSA)</a:t>
            </a:r>
            <a:endParaRPr lang="en-US" dirty="0"/>
          </a:p>
        </p:txBody>
      </p:sp>
      <p:sp>
        <p:nvSpPr>
          <p:cNvPr id="11" name="TextBox 10"/>
          <p:cNvSpPr txBox="1"/>
          <p:nvPr/>
        </p:nvSpPr>
        <p:spPr>
          <a:xfrm>
            <a:off x="1168400" y="5458380"/>
            <a:ext cx="7063143" cy="9479518"/>
          </a:xfrm>
          <a:prstGeom prst="rect">
            <a:avLst/>
          </a:prstGeom>
          <a:noFill/>
        </p:spPr>
        <p:txBody>
          <a:bodyPr wrap="square" lIns="91440" tIns="45720" rIns="91440" bIns="45720" rtlCol="0" anchor="t">
            <a:spAutoFit/>
          </a:bodyPr>
          <a:lstStyle/>
          <a:p>
            <a:pPr algn="just"/>
            <a:r>
              <a:rPr lang="en-US" sz="4000" b="1" dirty="0">
                <a:solidFill>
                  <a:srgbClr val="0070C0"/>
                </a:solidFill>
                <a:latin typeface="Encode Sans Normal Black" charset="0"/>
              </a:rPr>
              <a:t>PROJECT DESCRIPTION</a:t>
            </a:r>
          </a:p>
          <a:p>
            <a:pPr algn="just"/>
            <a:r>
              <a:rPr lang="en-US" sz="3000" dirty="0">
                <a:solidFill>
                  <a:srgbClr val="000000"/>
                </a:solidFill>
                <a:latin typeface="Calibri"/>
                <a:ea typeface="Calibri"/>
                <a:cs typeface="Calibri"/>
              </a:rPr>
              <a:t>The high growth of Artificial Intelligence (AI) and deep learning has changed computer vision, natural language processing, and other domains. Although these advancements, utilizing complex models on edge devices, such as emended systems and low-power platforms, remain a great challenge. These devices commonly used on the Internet of Things (IoT), have severe constraints on processing power, memory, and energy consumption.</a:t>
            </a:r>
          </a:p>
          <a:p>
            <a:pPr algn="just"/>
            <a:r>
              <a:rPr lang="en-US" sz="3000" dirty="0">
                <a:solidFill>
                  <a:srgbClr val="000000"/>
                </a:solidFill>
                <a:latin typeface="Calibri"/>
                <a:ea typeface="Calibri"/>
                <a:cs typeface="Calibri"/>
              </a:rPr>
              <a:t>Our objective is:</a:t>
            </a:r>
          </a:p>
          <a:p>
            <a:pPr marL="457200" indent="-457200" algn="just">
              <a:buFont typeface="Arial"/>
              <a:buChar char="•"/>
            </a:pPr>
            <a:r>
              <a:rPr lang="en-US" sz="3000" dirty="0">
                <a:solidFill>
                  <a:srgbClr val="000000"/>
                </a:solidFill>
                <a:latin typeface="Calibri"/>
                <a:ea typeface="Calibri"/>
                <a:cs typeface="Calibri"/>
              </a:rPr>
              <a:t>To design a custom lightweight CNN architecture</a:t>
            </a:r>
          </a:p>
          <a:p>
            <a:pPr marL="457200" indent="-457200" algn="just">
              <a:buFont typeface="Arial"/>
              <a:buChar char="•"/>
            </a:pPr>
            <a:r>
              <a:rPr lang="en-US" sz="3000" dirty="0">
                <a:solidFill>
                  <a:srgbClr val="000000"/>
                </a:solidFill>
                <a:latin typeface="Calibri"/>
                <a:ea typeface="Calibri"/>
                <a:cs typeface="Calibri"/>
              </a:rPr>
              <a:t>To access model optimization techniques such as Quantization Aware Training (QAT).</a:t>
            </a:r>
          </a:p>
          <a:p>
            <a:pPr marL="457200" indent="-457200" algn="just">
              <a:buFont typeface="Arial"/>
              <a:buChar char="•"/>
            </a:pPr>
            <a:r>
              <a:rPr lang="en-US" sz="3000" dirty="0">
                <a:solidFill>
                  <a:srgbClr val="000000"/>
                </a:solidFill>
                <a:latin typeface="Calibri"/>
                <a:ea typeface="Calibri"/>
                <a:cs typeface="Calibri"/>
              </a:rPr>
              <a:t>To develop and exhibit the model on an Arduino </a:t>
            </a:r>
            <a:r>
              <a:rPr lang="en-US" sz="3000" err="1">
                <a:solidFill>
                  <a:srgbClr val="000000"/>
                </a:solidFill>
                <a:latin typeface="Calibri"/>
                <a:ea typeface="Calibri"/>
                <a:cs typeface="Calibri"/>
              </a:rPr>
              <a:t>TinyML</a:t>
            </a:r>
            <a:r>
              <a:rPr lang="en-US" sz="3000" dirty="0">
                <a:solidFill>
                  <a:srgbClr val="000000"/>
                </a:solidFill>
                <a:latin typeface="Calibri"/>
                <a:ea typeface="Calibri"/>
                <a:cs typeface="Calibri"/>
              </a:rPr>
              <a:t> kit for validation. </a:t>
            </a:r>
            <a:endParaRPr lang="en-US" sz="3000">
              <a:latin typeface="Calibri"/>
              <a:ea typeface="Calibri"/>
              <a:cs typeface="Calibri"/>
            </a:endParaRPr>
          </a:p>
        </p:txBody>
      </p:sp>
      <p:pic>
        <p:nvPicPr>
          <p:cNvPr id="8" name="Picture 7" descr="A close up of a sign&#10;&#10;Description automatically generated">
            <a:extLst>
              <a:ext uri="{FF2B5EF4-FFF2-40B4-BE49-F238E27FC236}">
                <a16:creationId xmlns:a16="http://schemas.microsoft.com/office/drawing/2014/main" id="{EA995E8F-6472-4EFC-8631-61C2F6520DB7}"/>
              </a:ext>
            </a:extLst>
          </p:cNvPr>
          <p:cNvPicPr>
            <a:picLocks noChangeAspect="1"/>
          </p:cNvPicPr>
          <p:nvPr/>
        </p:nvPicPr>
        <p:blipFill>
          <a:blip r:embed="rId5"/>
          <a:stretch>
            <a:fillRect/>
          </a:stretch>
        </p:blipFill>
        <p:spPr>
          <a:xfrm>
            <a:off x="26684835" y="570934"/>
            <a:ext cx="5392562" cy="3647714"/>
          </a:xfrm>
          <a:prstGeom prst="rect">
            <a:avLst/>
          </a:prstGeom>
        </p:spPr>
      </p:pic>
      <p:pic>
        <p:nvPicPr>
          <p:cNvPr id="3" name="Picture 2" descr="A graph with blue and green bars&#10;&#10;AI-generated content may be incorrect.">
            <a:extLst>
              <a:ext uri="{FF2B5EF4-FFF2-40B4-BE49-F238E27FC236}">
                <a16:creationId xmlns:a16="http://schemas.microsoft.com/office/drawing/2014/main" id="{1CABFB02-D9BF-9EA8-83B9-C5532F9FE302}"/>
              </a:ext>
            </a:extLst>
          </p:cNvPr>
          <p:cNvPicPr>
            <a:picLocks noChangeAspect="1"/>
          </p:cNvPicPr>
          <p:nvPr/>
        </p:nvPicPr>
        <p:blipFill>
          <a:blip r:embed="rId6"/>
          <a:stretch>
            <a:fillRect/>
          </a:stretch>
        </p:blipFill>
        <p:spPr>
          <a:xfrm>
            <a:off x="9466525" y="6052434"/>
            <a:ext cx="6161266" cy="4052183"/>
          </a:xfrm>
          <a:prstGeom prst="rect">
            <a:avLst/>
          </a:prstGeom>
        </p:spPr>
      </p:pic>
      <p:pic>
        <p:nvPicPr>
          <p:cNvPr id="6" name="Picture 5" descr="A chart with blue squares and white text&#10;&#10;AI-generated content may be incorrect.">
            <a:extLst>
              <a:ext uri="{FF2B5EF4-FFF2-40B4-BE49-F238E27FC236}">
                <a16:creationId xmlns:a16="http://schemas.microsoft.com/office/drawing/2014/main" id="{A0EC1DF3-DB5A-946F-C2D7-8BC0BC4A29BB}"/>
              </a:ext>
            </a:extLst>
          </p:cNvPr>
          <p:cNvPicPr>
            <a:picLocks noChangeAspect="1"/>
          </p:cNvPicPr>
          <p:nvPr/>
        </p:nvPicPr>
        <p:blipFill>
          <a:blip r:embed="rId7"/>
          <a:stretch>
            <a:fillRect/>
          </a:stretch>
        </p:blipFill>
        <p:spPr>
          <a:xfrm>
            <a:off x="9979591" y="15625886"/>
            <a:ext cx="4912501" cy="4847149"/>
          </a:xfrm>
          <a:prstGeom prst="rect">
            <a:avLst/>
          </a:prstGeom>
        </p:spPr>
      </p:pic>
      <p:pic>
        <p:nvPicPr>
          <p:cNvPr id="7" name="Picture 6" descr="A plane flying in the sky&#10;&#10;AI-generated content may be incorrect.">
            <a:extLst>
              <a:ext uri="{FF2B5EF4-FFF2-40B4-BE49-F238E27FC236}">
                <a16:creationId xmlns:a16="http://schemas.microsoft.com/office/drawing/2014/main" id="{5A8D06E6-57F7-E84C-F10C-7B4DF244E41F}"/>
              </a:ext>
            </a:extLst>
          </p:cNvPr>
          <p:cNvPicPr>
            <a:picLocks noChangeAspect="1"/>
          </p:cNvPicPr>
          <p:nvPr/>
        </p:nvPicPr>
        <p:blipFill>
          <a:blip r:embed="rId8"/>
          <a:stretch>
            <a:fillRect/>
          </a:stretch>
        </p:blipFill>
        <p:spPr>
          <a:xfrm>
            <a:off x="16849808" y="11135772"/>
            <a:ext cx="3639709" cy="2664763"/>
          </a:xfrm>
          <a:prstGeom prst="rect">
            <a:avLst/>
          </a:prstGeom>
        </p:spPr>
      </p:pic>
      <p:pic>
        <p:nvPicPr>
          <p:cNvPr id="9" name="Picture 8" descr="A white truck on the road&#10;&#10;AI-generated content may be incorrect.">
            <a:extLst>
              <a:ext uri="{FF2B5EF4-FFF2-40B4-BE49-F238E27FC236}">
                <a16:creationId xmlns:a16="http://schemas.microsoft.com/office/drawing/2014/main" id="{934B3EE6-5CAA-A0CB-03E3-5119723A957C}"/>
              </a:ext>
            </a:extLst>
          </p:cNvPr>
          <p:cNvPicPr>
            <a:picLocks noChangeAspect="1"/>
          </p:cNvPicPr>
          <p:nvPr/>
        </p:nvPicPr>
        <p:blipFill>
          <a:blip r:embed="rId9"/>
          <a:stretch>
            <a:fillRect/>
          </a:stretch>
        </p:blipFill>
        <p:spPr>
          <a:xfrm>
            <a:off x="20736948" y="11140533"/>
            <a:ext cx="3620660" cy="2655239"/>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87373042-7BB3-8EE7-0A12-61FA17B298C8}"/>
              </a:ext>
            </a:extLst>
          </p:cNvPr>
          <p:cNvPicPr>
            <a:picLocks noChangeAspect="1"/>
          </p:cNvPicPr>
          <p:nvPr/>
        </p:nvPicPr>
        <p:blipFill>
          <a:blip r:embed="rId10"/>
          <a:stretch>
            <a:fillRect/>
          </a:stretch>
        </p:blipFill>
        <p:spPr>
          <a:xfrm>
            <a:off x="24945269" y="16400431"/>
            <a:ext cx="6870356" cy="394051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4EE3175D-7333-51FD-B882-957602A5BE43}"/>
              </a:ext>
            </a:extLst>
          </p:cNvPr>
          <p:cNvPicPr>
            <a:picLocks noChangeAspect="1"/>
          </p:cNvPicPr>
          <p:nvPr/>
        </p:nvPicPr>
        <p:blipFill>
          <a:blip r:embed="rId11"/>
          <a:stretch>
            <a:fillRect/>
          </a:stretch>
        </p:blipFill>
        <p:spPr>
          <a:xfrm>
            <a:off x="24945267" y="6069654"/>
            <a:ext cx="6841180" cy="4494989"/>
          </a:xfrm>
          <a:prstGeom prst="rect">
            <a:avLst/>
          </a:prstGeom>
        </p:spPr>
      </p:pic>
    </p:spTree>
    <p:extLst>
      <p:ext uri="{BB962C8B-B14F-4D97-AF65-F5344CB8AC3E}">
        <p14:creationId xmlns:p14="http://schemas.microsoft.com/office/powerpoint/2010/main" val="1069967497"/>
      </p:ext>
    </p:extLst>
  </p:cSld>
  <p:clrMapOvr>
    <a:masterClrMapping/>
  </p:clrMapOvr>
</p:sld>
</file>

<file path=ppt/theme/theme1.xml><?xml version="1.0" encoding="utf-8"?>
<a:theme xmlns:a="http://schemas.openxmlformats.org/drawingml/2006/main" name="Office Theme">
  <a:themeElements>
    <a:clrScheme name="Custom 11">
      <a:dk1>
        <a:srgbClr val="33006F"/>
      </a:dk1>
      <a:lt1>
        <a:srgbClr val="E8D3A2"/>
      </a:lt1>
      <a:dk2>
        <a:srgbClr val="797979"/>
      </a:dk2>
      <a:lt2>
        <a:srgbClr val="917B4C"/>
      </a:lt2>
      <a:accent1>
        <a:srgbClr val="33016F"/>
      </a:accent1>
      <a:accent2>
        <a:srgbClr val="E8D3A2"/>
      </a:accent2>
      <a:accent3>
        <a:srgbClr val="797979"/>
      </a:accent3>
      <a:accent4>
        <a:srgbClr val="917B43"/>
      </a:accent4>
      <a:accent5>
        <a:srgbClr val="424242"/>
      </a:accent5>
      <a:accent6>
        <a:srgbClr val="797979"/>
      </a:accent6>
      <a:hlink>
        <a:srgbClr val="A9A9A9"/>
      </a:hlink>
      <a:folHlink>
        <a:srgbClr val="D5D5D5"/>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38B58BF6A3F704C9114FC64AFDCFD8A" ma:contentTypeVersion="3" ma:contentTypeDescription="Create a new document." ma:contentTypeScope="" ma:versionID="aebbca8ebc2105bbb4f276f65e442d89">
  <xsd:schema xmlns:xsd="http://www.w3.org/2001/XMLSchema" xmlns:xs="http://www.w3.org/2001/XMLSchema" xmlns:p="http://schemas.microsoft.com/office/2006/metadata/properties" xmlns:ns2="501534a4-5232-400e-9657-7cacfb15c5d4" targetNamespace="http://schemas.microsoft.com/office/2006/metadata/properties" ma:root="true" ma:fieldsID="2446ce8519d0e6b57774f29290a4cf6a" ns2:_="">
    <xsd:import namespace="501534a4-5232-400e-9657-7cacfb15c5d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1534a4-5232-400e-9657-7cacfb15c5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F58DC9-351C-40D2-B715-302AAABF06C6}">
  <ds:schemaRefs>
    <ds:schemaRef ds:uri="http://schemas.microsoft.com/sharepoint/v3/contenttype/forms"/>
  </ds:schemaRefs>
</ds:datastoreItem>
</file>

<file path=customXml/itemProps2.xml><?xml version="1.0" encoding="utf-8"?>
<ds:datastoreItem xmlns:ds="http://schemas.openxmlformats.org/officeDocument/2006/customXml" ds:itemID="{C03F7AA8-606A-496E-BA1E-18B8FAF7270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5ABF6626-F1FC-4165-89B0-DFE3F8AEF7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1534a4-5232-400e-9657-7cacfb15c5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576</TotalTime>
  <Words>1021</Words>
  <Application>Microsoft Office PowerPoint</Application>
  <PresentationFormat>Custom</PresentationFormat>
  <Paragraphs>75</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Custom Lightweight Convolutional Neural Network for Edge-Based Inference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 poster</dc:title>
  <dc:creator>Bill Manos</dc:creator>
  <cp:lastModifiedBy>Bill Manos</cp:lastModifiedBy>
  <cp:revision>376</cp:revision>
  <dcterms:created xsi:type="dcterms:W3CDTF">2018-02-06T21:34:11Z</dcterms:created>
  <dcterms:modified xsi:type="dcterms:W3CDTF">2025-07-24T14:55:57Z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0x010100738B58BF6A3F704C9114FC64AFDCFD8A</vt:lpwstr>
  </property>
</Properties>
</file>